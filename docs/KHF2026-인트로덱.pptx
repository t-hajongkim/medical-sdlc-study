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9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</p:sldIdLst>
  <p:sldSz cx="12188825" cy="6858000"/>
  <p:notesSz cx="6858000" cy="9144000"/>
  <p:defaultTextStyle>
    <a:defPPr>
      <a:defRPr lang="en-US"/>
    </a:defPPr>
    <a:lvl1pPr marL="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theme_dark mode" id="{81BF125B-3DD1-8444-87BD-83DBE933DF68}">
          <p14:sldIdLst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</p14:sldIdLst>
        </p14:section>
        <p14:section name="Default theme_dark mode" id="{2535B1A6-A8C7-CA45-8E70-09E67CC9FDB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Copilot/AI_dark mode" id="{845C0727-1AAC-D545-B6BE-1AFCAA59C892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Security_dark mode" id="{7BFA2AE7-9052-FB4D-A355-5E8892A147DF}">
          <p14:sldIdLst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  <p14:section name="Default theme_light mode" id="{C59EE9B4-D87C-6D42-A2A7-E4336738500B}">
          <p14:sldIdLst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</p14:sldIdLst>
        </p14:section>
        <p14:section name="Copilot/AI_light mode" id="{3A94A824-119D-8942-9AAD-F8102EB94935}">
          <p14:sldIdLst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</p14:sldIdLst>
        </p14:section>
        <p14:section name="Security_light mode" id="{2F5AC21D-F6B3-C746-B0D0-0C2BCF1059BB}">
          <p14:sldIdLst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56" userDrawn="1">
          <p15:clr>
            <a:srgbClr val="A4A3A4"/>
          </p15:clr>
        </p15:guide>
        <p15:guide id="3" orient="horz" pos="264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pos="7439" userDrawn="1">
          <p15:clr>
            <a:srgbClr val="A4A3A4"/>
          </p15:clr>
        </p15:guide>
        <p15:guide id="6" pos="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E4F"/>
    <a:srgbClr val="FFFFFF"/>
    <a:srgbClr val="101411"/>
    <a:srgbClr val="909692"/>
    <a:srgbClr val="5A61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1"/>
    <p:restoredTop sz="94612"/>
  </p:normalViewPr>
  <p:slideViewPr>
    <p:cSldViewPr snapToGrid="0" showGuides="1">
      <p:cViewPr varScale="1">
        <p:scale>
          <a:sx n="84" d="100"/>
          <a:sy n="84" d="100"/>
        </p:scale>
        <p:origin x="216" y="2832"/>
      </p:cViewPr>
      <p:guideLst>
        <p:guide orient="horz" pos="2160"/>
        <p:guide orient="horz" pos="4056"/>
        <p:guide orient="horz" pos="264"/>
        <p:guide pos="3839"/>
        <p:guide pos="7439"/>
        <p:guide pos="2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189" Type="http://schemas.openxmlformats.org/officeDocument/2006/relationships/notesMaster" Target="notesMasters/notesMaster1.xml"/><Relationship Id="rId190" Type="http://schemas.openxmlformats.org/officeDocument/2006/relationships/presProps" Target="presProps.xml"/><Relationship Id="rId191" Type="http://schemas.openxmlformats.org/officeDocument/2006/relationships/viewProps" Target="viewProps.xml"/><Relationship Id="rId192" Type="http://schemas.openxmlformats.org/officeDocument/2006/relationships/theme" Target="theme/theme1.xml"/><Relationship Id="rId193" Type="http://schemas.openxmlformats.org/officeDocument/2006/relationships/tableStyles" Target="tableStyles.xml"/><Relationship Id="rId19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Steinberger" userId="e2db17d7-f14d-452d-ace2-d90110604655" providerId="ADAL" clId="{7E01ACD8-931E-5E84-A0A1-688513302D03}"/>
    <pc:docChg chg="modSld">
      <pc:chgData name="Craig Steinberger" userId="e2db17d7-f14d-452d-ace2-d90110604655" providerId="ADAL" clId="{7E01ACD8-931E-5E84-A0A1-688513302D03}" dt="2026-01-20T22:47:38.474" v="2" actId="20577"/>
      <pc:docMkLst>
        <pc:docMk/>
      </pc:docMkLst>
      <pc:sldChg chg="modNotesTx">
        <pc:chgData name="Craig Steinberger" userId="e2db17d7-f14d-452d-ace2-d90110604655" providerId="ADAL" clId="{7E01ACD8-931E-5E84-A0A1-688513302D03}" dt="2026-01-20T22:47:38.474" v="2" actId="20577"/>
        <pc:sldMkLst>
          <pc:docMk/>
          <pc:sldMk cId="3732242336" sldId="26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14FC2-20DA-5B43-91CB-9B0F7151D39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C53A8-59A0-4A49-BAB4-A832A26A8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— 인사는 짧게. 자기소개보다 첫 질문이 먼저다. "오늘 코드 한 줄도 안 씁니다"를 여기서 미리 못 박아 진입장벽을 없앤다.</a:t>
            </a:r>
          </a:p>
          <a:p/>
          <a:p>
            <a:r>
              <a:t>부제를 소리내어 읽되 답하지 말 것 — "그 답이 맞는지, 어떻게 확인하십니까?"는 이 세션 전체를 관통하는 질문이고, 30분 뒤 검증 장면에서 회수한다. 여기서 설명하면 회수할 것이 없어진다.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0:01 — 거의 전원이 든다. 그게 목적이다. 2026년에 "AI란 무엇인가"로 열면 그 순간 진다. 이 질문은 청중을 이미 하고 있는 사람으로 규정한다. 손이 많이 올라오면 "역시 그러실 줄 알았습니다"로 받는다. 절대 가르치려 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0:02 — 거의 아무도 안 든다. 이 대비가 오늘 세션의 문이다. 내가 지적하는 게 아니라 청중이 방금 손으로 증명한 것이 된다. 손이 내려간 뒤 3초 침묵. 그리고 다음 장으로. 여기서 설명을 덧붙이면 효과가 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0:04 — 청중의 현재 역량을 명시적으로 인정한다. 이 슬라이드가 없으면 뒤의 문제 제기가 "너희가 잘못하고 있다"로 들린다. 마지막 문장을 반드시 소리내어 읽는다 — 이 세션의 포지션을 정하는 문장이다.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0:06 — 3번에 힘을 준다. 대학병원의 진짜 통증이다. 1·2는 빠르게 지나간다. 여기서 "선생님 개인은 이미 잘 하고 계십니다. 그런데 그게 우리 과의 자산이 되고 있습니까?"라고 묻는다. 이 문장이 오늘의 결핍 정의다.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0:08 — 앞 장을 한 문장으로 압축. 경영·기획 인력이 섞여 있으면 여기서 고개를 끄덕인다. 오래 머물지 않는다 — 신세한탄이 되면 안 된다. 바로 다음 장에서 더 무거운 문제로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 — 이 세션 전체의 논리적 핵심. 세컨드 오피니언 vs 검사 결과는 의사에게만 설명이 필요 없는 구분이다. 개발자에게는 한참 설명해야 하는 개념이다. 이 비유를 쓰는 이유가 그것이다. 마지막 문장 뒤 2초 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0:12 — 첫 줄(환각 인용)이 가장 잘 통한다. "지금 학술지들이 가장 골머리를 앓고 있는 문제입니다"를 말로 덧붙인다 — 슬라이드에서는 뺐다. 실제로 2024년 이후 주요 학술지가 AI 생성 인용 때문에 심사 정책을 바꾸고 있다. "이걸 사람이 일일이 확인하십니까?"라고 물으면 답이 안 나온다. 그 침묵이 다음 장의 전제다.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0:14 — 이 장이 이 세션에서 가장 반박하기 어려운 논거다. "요즘 AI 잘하는데?"는 반박이 되지만 "셋업이 어렵다"는 반박이 안 된다. 이미 다 겪어보신 분들이기 때문이다. 문제를 "AI가 틀릴까 봐"에서 "AI를 병원에서 쓰려니까"로 옮기는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— 앞 장의 해답. 실습 자체가 논거가 되는 지점이다 — 잠시 뒤 참가자가 직접 6분 만에 만든다. 다섯 항목은 실습 안내서의 준비 1~5번과 정확히 같다. 2번과 3번을 빠뜨리는 사고가 가장 흔하니 여기서 한 번 짚어 둔다.</a:t>
            </a:r>
          </a:p>
          <a:p/>
          <a:p>
            <a:r>
              <a:t>"기관생명윤리위원회(IRB)나 정보보안 심의를 없애 드린다는 뜻이 아닙니다"를 말로 분명히 한다 — 과장하면 병원 정보보안 담당자에게 즉시 반박당한다.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0:16 — 전체 그림을 먼저 주는 장. 이 장이 없으면 뒤따라오는 데이터·마스킹 설명이 "그래서 뭘 만든다는 거지?" 상태에서 들린다. 네 줄을 그대로 읽어 준다 — 세부는 전부 뒤에서 다시 나오므로 여기서 설명하지 않는다. "받고·묻고·보고·쌓고" 네 동사만 남기면 성공이다.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0:17 — 지금은 자세히 읽지 않는다. 한 장으로 전체를 보여주고 딱 두 가지만 짚는다.</a:t>
            </a:r>
          </a:p>
          <a:p>
            <a:r>
              <a:t>① 파란 상자 두 개는 전부 자동이다 — 수집부터 검증까지 사람이 손대지 않는다.</a:t>
            </a:r>
          </a:p>
          <a:p>
            <a:r>
              <a:t>② 흰 상자 두 개가 선생님 자리다 — 왼쪽 위 "사람은 두 번만 개입"을 가리키며 말한다.</a:t>
            </a:r>
          </a:p>
          <a:p>
            <a:r>
              <a:t>"90분 동안 선생님이 하실 일은 이 두 번 누르는 것과, 그 사이에 읽고 판단하는 것입니다."</a:t>
            </a:r>
          </a:p>
          <a:p>
            <a:r>
              <a:t>세부(라벨명·파일 경로)는 뒤에서 다시 나오므로 여기서 설명하지 않는다. 30초 안에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0:17 — 앞 장의 "왜 어려운가". "셋을 한자리에 놓는 것, 그게 어려운 부분이었습니다"를 말로 맺는다 — 슬라이드에는 적지 않았다. 9번 장(셋업이 어렵다)과 연결된다. 1번이 다음 장부터 이어지는 데이터·마스킹 이야기의 도입이 된다. 3번에서 "오늘 선생님의 역할"을 미리 예고해 두면 실습 참여도가 올라간다.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0:18 — 주제를 처음 꺼내는 장. 숫자를 그대로 읽어준다. "272건이면 큰가요, 작은가요?"라고 물어도 좋다 — 대부분 "작다"고 답한다. 그 감각이 뒤의 판정 슬라이드로 이어진다. 합성 데이터 고지는 다음 장 전용이므로 여기서 길게 끌지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0:19 — 짧고 단호하게. 마지막 줄이 중요하다 — 합성인데 왜 굳이 개인정보를 만들어 넣었는지를 여기서 미리 답해 둔다. 이 질문은 반드시 나온다. 실습 데이터가 촬영될 수 있으므로 이 슬라이드를 건너뛰지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 — 이 장의 결론은 "막는 게 아니라 가린다"이다. 흔히 개인정보 보호라고 하면 데이터를 빼는 것으로 생각하는데, 그러면 분석이 불가능해진다. 여기서는 식별자만 해시 토큰으로 치환하고 임상 정보는 그대로 둔다. 마지막 줄이 핵심 — 판독문도 나간다. 이름과 번호만 바뀐 채로.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0:21 — 말이 아니라 화면으로 보여주는 장. 임상 내용(폐기종·기흉)은 한 글자도 안 지워졌고 이름만 바뀌었다. "이러면 분석이 되겠습니까?"라고 물어도 좋다 — 된다. 같은 사람은 항상 같은 토큰이 되므로(HMAC), 같은 환자인지 아닌지도 알 수 있다. 다만 그 토큰으로 실제 누구인지는 역산할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0:22 — 앞 두 장의 회수. "개인정보를 지키면 분석을 포기해야 한다"가 통념인데, 그 통념이 틀렸다는 것이 이 세 장의 논지다. 마지막 줄이 실무 포인트 — 반출 규칙이 db/data/README.md 에 표로 적혀 있어 심의 자료로 그대로 쓸 수 있다. 실제 파일을 열어 보여줘도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0:23 — 실습 구조를 정당화하는 장. "한 번에 다 시키면 빠르다"는 반론을 먼저 인정하고 뒤집는다. 문제는 속도가 아니라 되돌릴 지점이 없다는 것이다. 이 장이 없으면 뒤의 4단계가 "왜 이렇게 번거롭게"로 들린다.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0:24 — 파이프라인 전체를 한 장으로. 강조행 둘(2·4)만 짚고 나머지는 빠르게. 2단계에서 "여기서 선생님이 보십니다"라고 말로 짚는다 — 슬라이드에는 적지 않았다(다음 장에서 자세히 다룬다). "머지가 곧 승인입니다"를 반드시 말한다 — 실습에서 참가자가 실제로 누를 버튼이다. 기능 이름(Actions·PR)은 아직 꺼내지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 — 이 단계가 이 파이프라인의 발명품이다. "분석이 다 끝난 뒤에 방향이 틀렸다는 걸 알면 늦습니다." 실습 3에서 참가자가 실제로 이 문서를 읽고 승인/반려한다고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0:26 — 이 장이 없으면 전원이 그냥 Merge를 누른다. 그러면 참가자가 몸으로 배우는 것은 "승인은 형식"이 되고 세션의 논지가 무너진다. 2번이 특히 잘 걸린다 — AI는 유보 표현을 잘 빠뜨린다. "반려도 성공입니다"를 소리내어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0:27 — 이 장의 결론은 "왜 다른 모델인가"다. 같은 모델에게 다시 물으면 같은 실수를 반복한다 — 7번 장에서 말한 세컨드 오피니언 문제가 AI끼리도 똑같이 생긴다. 세 번째 줄에 힘을 준다. "유보 표현이 사라졌는지"는 임상 논문 심사에서 가장 중요하면서 가장 안 잡히는 항목이다. AI가 초안의 "~할 가능성이 있다"를 다음 판에서 "~한다"로 슬쩍 바꾸는 일이 실제로 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0:28 — 세션 전체의 정점. 7번 장(세컨드 오피니언 vs 검사 결과)이 여기서 회수된다. "이게 세컨드 오피니언이 아니라 검사 결과입니다"라고 명시적으로 잇는다.</a:t>
            </a:r>
          </a:p>
          <a:p/>
          <a:p>
            <a:r>
              <a:t>재현 주의: 이 화면은 어제 실행에서 나온 실제 사례다. 오늘 참가자 실행에서 같은 지적이 나온다는 보장이 없다 — 그래서 제목을 "어제"로 한정했다. 통과해도 실패가 아니다: "여러분 것은 세 관문을 다 넘었네요. 그런데 이런 것도 잡습니다"로 이 화면을 보여주면 된다. 만들어낸 예시가 아니라는 점은 꼭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0:29 — 이 장이 실습 결과의 기대치를 정한다. 오늘 어떤 논문이 걸릴지, 어떤 판정이 나올지 알 수 없다 — 그래서 특정 결과를 예고하지 않고 판정 체계만 보여준다. 어느 쪽이 나와도 이 장이 받아 준다.</a:t>
            </a:r>
          </a:p>
          <a:p/>
          <a:p>
            <a:r>
              <a:t>"불충분"에 힘을 준다. 프롬프트에도 "불충분은 유효하고 종종 올바른 답이다. 부풀리지 마라"라고 못 박혀 있다. 실습 뒤 판정이 무엇이든 "판정이 나왔다는 것 자체가 결과"라고 받으면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 — 오늘 가져가는 사고 틀. 이 장이 이 세션에서 유일하게 기술 없이 남는 것이다. "저희 대시보드가 이 네 칸으로 되어 있습니다. 그런데 이건 화면 이야기가 아니라 논문을 읽는 순서입니다." ③이 핵심이라고 짚는다 — 대개 ①②만 보고 "좋은 논문이네"로 끝나는데, 우리에게 그 데이터가 있는지를 묻는 순간 대부분 걸러진다. 청중이 메모하면 성공이다 — 잠깐 기다려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0:31 — 정형화가 곧 품질 균일성이라는 논거. 6번 장("60명이 각자 물으면 60개의 답")이 여기서 회수된다. 교육 담당·QI 담당이 있으면 이 장이 가장 크게 꽂힌다 — 신입 전공의 온보딩 문제와 정확히 같은 구조다.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0:32 — 한 줄씩 짚는다. 강조행에서 멈추고 "이것 하나만 지금 안 하고 계십니다"라고 말한다 — 숫자를 다시 계산해 보는 사람은 현실에 거의 없다. 연구원 비중이 높으면 이 장이 가장 잘 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0:33 — 대기 시간을 미리 말해 두는 것이 핵심이다. 이 말이 없으면 "고장났나" 하며 새로고침을 반복한다. 강조행 둘(3분·15분)이 오늘 실제로 하는 일이다 — 나머지는 기다리는 시간이다. 대기 중에 무엇을 볼지(Actions 로그에서 AI가 만든 검색어)도 함께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 ① — 실습 직후. 실제로 손을 들게 한다 — "어려우셨던 분?" 손이 거의 안 올라온다. 그 장면 자체가 메시지다. 뒷줄(기록으로 남는다)은 3번 장에서 심어둔 "저장 안 된다"의 회수다. 서두르지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 ② — 여기가 실제로 GitHub을 파는 지점이다. 앞의 것들은 "검증"을 팔지만 이건 "지속"을 판다. 프롬프팅으로는 절대 안 되는 것이다. "선생님이 아무것도 하지 않아도요"를 꼭 덧붙인다. 5번 장("대화창은 닫으면 사라진다")의 최종 회수.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 ③ — 이 장의 목적은 적용 범위를 넓히는 것이다. 조건 세 가지(반복·대가·다중 소유)가 맞으면 어디든 같은 틀이다. 마지막 줄이 전환 포인트 — "오늘 만진 게 곧 내 것이 된다"가 남아야 한다.</a:t>
            </a:r>
          </a:p>
          <a:p/>
          <a:p>
            <a:r>
              <a:t>질문이 나오면 이렇게 답한다.</a:t>
            </a:r>
          </a:p>
          <a:p>
            <a:r>
              <a:t>· QI(Quality Improvement, 질향상) — 재입원율·수술부위감염률(SSI)·손위생 수행률 등을 매달 산출해 경영진 보고와 인증평가에 제출한다. 진짜 문제는 숫자가 아니라 정의다 — 재입원율 분모에 계획된 재입원을 넣는지, 타원 전원은 어떻게 세는지. 담당자 머릿속에만 있으면 사람이 바뀔 때 정의가 슬쩍 바뀌고, 그러면 작년 대비 개선이 진짜 개선인지 정의가 바뀐 것인지 알 수 없다. 정의를 파일로 두면 매달 같은 정의로 산출되는지 확인되고, 고칠 때 과거 12개월을 소급 재계산할 수 있다.</a:t>
            </a:r>
          </a:p>
          <a:p>
            <a:r>
              <a:t>· 원내 AI 프롬프트 — 퇴원요약·판독문 초안, 환자 설명자료 쉬운 말 변환 등 이미 쓰고 있는 것들. 문제는 프롬프트를 고쳤을 때다. "좀 간결하게" 한 줄 고치면 100건 중 3건에서 투약력이 조용히 빠질 수 있다. 고친 사람은 자기가 본 몇 건만 확인하니 모른다. 평가셋 100건에 매번 재실행하면 전후 비교로 잡힌다. 오늘 본 "다른 AI가 검증한다"와 같은 발상이라 차기 세션 후보로 예고해도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 ④ — 도입 문의</a:t>
            </a:r>
          </a:p>
          <a:p>
            <a:r>
              <a:t>QR 을 화면에 띄운 채로 잠시 기다린다. 참가자가 휴대폰을 꺼내 찍을 시간이 필요하다(최소 15초). "오늘 해보신 걸 우리 기관에 어떻게 적용할지 궁금하시면 여기로 문의해 주세요" 정도로 짧게. 길게 설명하지 않는다 — 화면이 이미 다 말하고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 ⑤ — Industry Day 안내</a:t>
            </a:r>
          </a:p>
          <a:p>
            <a:r>
              <a:t>9월 30일(수) COEX. 오늘 세션과 같은 맥락의 행사이므로 자연스럽게 잇는다 — "오늘은 90분이었지만, 하루 종일 다른 병원·대학 사례를 보실 수 있는 자리가 있습니다." 참가비 무료 · 사전 등록제라는 점을 꼭 말한다. 그다음 마지막 장으로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 — 제목 슬라이드의 부제("그 답이 맞는지, 어떻게 확인하십니까?")에 대한 답으로 닫는다. 수미상관. 화면에는 이 문장만 남겼으므로 나머지는 말로 전한다.</a:t>
            </a:r>
          </a:p>
          <a:p/>
          <a:p>
            <a:r>
              <a:t>말로 덧붙일 것: ① 오늘 저장소와 실습 안내는 그대로 가져가실 수 있다 ② 실습 데이터는 전부 합성 데이터이고, 모든 산출물은 임상 사용 전 의사의 검토가 필요하다.</a:t>
            </a:r>
          </a:p>
          <a:p/>
          <a:p>
            <a:r>
              <a:t>질의응답은 이 화면을 띄운 채로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260" y="402336"/>
            <a:ext cx="11384657" cy="595925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80000"/>
              </a:lnSpc>
              <a:defRPr sz="9600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Section 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0248E-07E8-06F9-9AAF-0C1CD1671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EE7DE-452C-214F-7F38-C14C82A42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7749530-64E1-E47A-E8E6-06385AE5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7249D01-C24C-14C8-0425-CFAD66343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459713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439122-4607-B9A2-B0E1-EC68EC513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914" y="638739"/>
            <a:ext cx="11811000" cy="558052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5998" b="0" i="0">
                <a:solidFill>
                  <a:schemeClr val="tx1"/>
                </a:solidFill>
                <a:latin typeface="Mona Sans Display" pitchFamily="2" charset="77"/>
                <a:cs typeface="Mona Sans Display" pitchFamily="2" charset="77"/>
              </a:defRPr>
            </a:lvl1pPr>
          </a:lstStyle>
          <a:p>
            <a:r>
              <a:rPr lang="en-US" dirty="0"/>
              <a:t>Large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5979C-2169-1DFC-C1DB-3DEE84D76B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EC00D-21E5-EEA5-4783-0FD06BBC44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4C13C-5DCA-434E-C542-7615B91E8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926477C-AC4C-85A4-D8BB-2C15C865AA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19156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409BE0-34A8-CF07-CA53-CB48BE2F633D}"/>
              </a:ext>
            </a:extLst>
          </p:cNvPr>
          <p:cNvSpPr/>
          <p:nvPr userDrawn="1"/>
        </p:nvSpPr>
        <p:spPr>
          <a:xfrm>
            <a:off x="-63" y="6437150"/>
            <a:ext cx="12188952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B64E7-AFB5-6828-FD1B-8B2FCD40DFAE}"/>
              </a:ext>
            </a:extLst>
          </p:cNvPr>
          <p:cNvSpPr/>
          <p:nvPr userDrawn="1"/>
        </p:nvSpPr>
        <p:spPr>
          <a:xfrm>
            <a:off x="11781917" y="6455664"/>
            <a:ext cx="9144" cy="402336"/>
          </a:xfrm>
          <a:prstGeom prst="rect">
            <a:avLst/>
          </a:prstGeom>
          <a:solidFill>
            <a:srgbClr val="5A61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094258-4B63-C0D4-8BB5-813D2F09B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B092491-412C-FCE6-7BE8-A2C83F3401E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13" y="6595277"/>
            <a:ext cx="11495038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00615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entire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67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559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8"/>
    <p:sldLayoutId id="2147483781" r:id="rId9"/>
    <p:sldLayoutId id="2147483675" r:id="rId46"/>
    <p:sldLayoutId id="2147483676" r:id="rId47"/>
  </p:sldLayoutIdLst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599" b="1" i="0" kern="1200">
          <a:solidFill>
            <a:schemeClr val="tx1"/>
          </a:solidFill>
          <a:latin typeface="Mona-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799" b="0" i="0" kern="1200">
          <a:solidFill>
            <a:schemeClr val="tx1"/>
          </a:solidFill>
          <a:latin typeface="Mona-Sans Regular" pitchFamily="2" charset="77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119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420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325880"/>
            <a:ext cx="11387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5EEC83"/>
                </a:solidFill>
                <a:latin typeface="Arial"/>
              </a:rPr>
              <a:t>KHF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874519"/>
            <a:ext cx="11387023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AI 시대, 의료진도 직접 만드는 업무 혁신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2880360"/>
            <a:ext cx="1138702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B0BAC3"/>
                </a:solidFill>
                <a:latin typeface="Arial"/>
              </a:rPr>
              <a:t>AI Agent &amp; GitHub Copilot으로 진료 · 연구 · 행정을 더 스마트하게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3840480"/>
            <a:ext cx="45720" cy="548640"/>
          </a:xfrm>
          <a:prstGeom prst="rect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11492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그 답이 맞는지, </a:t>
            </a:r>
            <a:r>
              <a:rPr sz="1700" b="1">
                <a:solidFill>
                  <a:srgbClr val="FFFFFF"/>
                </a:solidFill>
                <a:latin typeface="Arial"/>
              </a:rPr>
              <a:t>어떻게 확인하십니까?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5897880"/>
            <a:ext cx="11387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7D8790"/>
                </a:solidFill>
                <a:latin typeface="Arial"/>
              </a:rPr>
              <a:t>2026년 8월 21일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194560"/>
            <a:ext cx="1138702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AI에게 뭔가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물어보신 적 있으십니까?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486400"/>
            <a:ext cx="11387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5EEC83"/>
                </a:solidFill>
                <a:latin typeface="Arial"/>
              </a:rPr>
              <a:t>손 들어주세요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74519"/>
            <a:ext cx="1138702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그 답을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5EEC83"/>
                </a:solidFill>
                <a:latin typeface="Arial"/>
              </a:rPr>
              <a:t>어딘가 저장</a:t>
            </a:r>
            <a:r>
              <a:rPr sz="3400" b="1">
                <a:solidFill>
                  <a:srgbClr val="FFFFFF"/>
                </a:solidFill>
                <a:latin typeface="Arial"/>
              </a:rPr>
              <a:t>해 두신 분?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3703320"/>
            <a:ext cx="113870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지난달에 물어본 그 답, 지금 찾을 수 있으십니까?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5486400"/>
            <a:ext cx="11387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5EEC83"/>
                </a:solidFill>
                <a:latin typeface="Arial"/>
              </a:rPr>
              <a:t>손 들어주세요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이미 잘 하고 계십니다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205740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205740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논문 초록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3354" y="205740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83354" y="205740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통계 코드 작성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4372" y="205740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4372" y="205740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영문 교정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292608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292608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연구계획서 초안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292608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3354" y="292608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데이터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4372" y="2926080"/>
            <a:ext cx="3624986" cy="64008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4372" y="2926080"/>
            <a:ext cx="362498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그림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4434840"/>
            <a:ext cx="113870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불과 2~3년 전이라면 며칠 걸렸을 일입니다.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오늘 이 자리는 "AI를 쓰세요"라고 말하러 온 자리가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그런데 그게 </a:t>
            </a:r>
            <a:r>
              <a:rPr sz="3200" b="1">
                <a:solidFill>
                  <a:srgbClr val="5EEC83"/>
                </a:solidFill>
                <a:latin typeface="Arial"/>
              </a:rPr>
              <a:t>어디에</a:t>
            </a:r>
            <a:r>
              <a:rPr sz="3200" b="1">
                <a:solidFill>
                  <a:srgbClr val="FFFFFF"/>
                </a:solidFill>
                <a:latin typeface="Arial"/>
              </a:rPr>
              <a:t> 남습니까?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210312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35915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7121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대화창은 닫으면 사라집니다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2102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그때 왜 그렇게 결론 냈는지, 어떤 논문을 봤는지 — 세 달 뒤에는 본인도 못 찾습니다.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9450" y="210312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45482" y="235915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482" y="287121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옆방 교수님도 따로 묻고 계십니다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482" y="362102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같은 질문에 서로 다른 답을 받습니다. 누가 맞는지 확인할 방법이 없습니다.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564" y="210312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2596" y="235915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596" y="287121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전공의는 몇 년마다 바뀝니다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62102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개인 역량은 쌓이는데 과에는 아무것도 남지 않습니다. 매번 처음부터 시작합니다.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0"/>
            <a:ext cx="1138702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개인 역량은 늘었는데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5EEC83"/>
                </a:solidFill>
                <a:latin typeface="Arial"/>
              </a:rPr>
              <a:t>조직의 실력</a:t>
            </a:r>
            <a:r>
              <a:rPr sz="3200" b="1">
                <a:solidFill>
                  <a:srgbClr val="FFFFFF"/>
                </a:solidFill>
                <a:latin typeface="Arial"/>
              </a:rPr>
              <a:t>은 그대로입니다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4069080"/>
            <a:ext cx="113870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60명이 각자 물으면 60개의 답이 나옵니다.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그건 기준이 없는 것과 같습니다.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그리고 더 큰 문제가 하나 있습니다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2148840"/>
            <a:ext cx="11387023" cy="1554480"/>
          </a:xfrm>
          <a:prstGeom prst="rect">
            <a:avLst/>
          </a:prstGeom>
          <a:solidFill>
            <a:srgbClr val="1B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2148840"/>
            <a:ext cx="54864" cy="1554480"/>
          </a:xfrm>
          <a:prstGeom prst="rect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148840"/>
            <a:ext cx="10655503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AI에게 "이거 맞아?"라고 다시 물으면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또 그럴듯한 답</a:t>
            </a:r>
            <a:r>
              <a:rPr sz="2000" b="0">
                <a:solidFill>
                  <a:srgbClr val="FFFFFF"/>
                </a:solidFill>
                <a:latin typeface="Arial"/>
              </a:rPr>
              <a:t>이 돌아옵니다.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4297680"/>
            <a:ext cx="1138702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그건 검증이 아니라 </a:t>
            </a:r>
            <a:r>
              <a:rPr sz="1700" b="1">
                <a:solidFill>
                  <a:srgbClr val="FFFFFF"/>
                </a:solidFill>
                <a:latin typeface="Arial"/>
              </a:rPr>
              <a:t>세컨드 오피니언</a:t>
            </a:r>
            <a:r>
              <a:rPr sz="1700" b="0">
                <a:solidFill>
                  <a:srgbClr val="B0BAC3"/>
                </a:solidFill>
                <a:latin typeface="Arial"/>
              </a:rPr>
              <a:t>입니다.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선생님들은 세컨드 오피니언과 검사 결과를 구분하십니다.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실제로 이런 일이 일어납니다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11680"/>
            <a:ext cx="523803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무엇이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6126" y="2011680"/>
            <a:ext cx="56003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왜 못 잡나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2377440"/>
            <a:ext cx="11387023" cy="9525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2432304"/>
            <a:ext cx="11387023" cy="786384"/>
          </a:xfrm>
          <a:prstGeom prst="rect">
            <a:avLst/>
          </a:prstGeom>
          <a:solidFill>
            <a:srgbClr val="09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432304"/>
            <a:ext cx="523803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존재하지 않는 논문을 인용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6126" y="2432304"/>
            <a:ext cx="5600353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5EEC83"/>
                </a:solidFill>
                <a:latin typeface="Arial"/>
              </a:rPr>
              <a:t>그럴듯한 제목·저널·연도까지 만들어 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3218688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218688"/>
            <a:ext cx="523803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숫자가 본문과 표에서 다름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6126" y="3218688"/>
            <a:ext cx="5600353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어느 쪽이 맞는지 확인할 방법이 없습니다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4005072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005072"/>
            <a:ext cx="523803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"기존 연구와 일치한다"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6126" y="4005072"/>
            <a:ext cx="5600353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정말 일치하는지 아무도 대조하지 않았습니다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4791456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791456"/>
            <a:ext cx="523803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분석을 다시 돌리면 값이 다름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126" y="4791456"/>
            <a:ext cx="5600353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어떤 설정으로 돌렸는지 기록이 없습니다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만드는 건 </a:t>
            </a:r>
            <a:r>
              <a:rPr sz="3200" b="1">
                <a:solidFill>
                  <a:srgbClr val="5EEC83"/>
                </a:solidFill>
                <a:latin typeface="Arial"/>
              </a:rPr>
              <a:t>이제 쉽습니다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463040"/>
            <a:ext cx="1138702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B0BAC3"/>
                </a:solidFill>
                <a:latin typeface="Arial"/>
              </a:rPr>
              <a:t>어려운 건 </a:t>
            </a:r>
            <a:r>
              <a:rPr sz="2000" b="1">
                <a:solidFill>
                  <a:srgbClr val="FFFFFF"/>
                </a:solidFill>
                <a:latin typeface="Arial"/>
              </a:rPr>
              <a:t>그걸 지속 가능하게 실무·연구에서 쓰는 것</a:t>
            </a:r>
            <a:r>
              <a:rPr sz="2000" b="0">
                <a:solidFill>
                  <a:srgbClr val="B0BAC3"/>
                </a:solidFill>
                <a:latin typeface="Arial"/>
              </a:rPr>
              <a:t>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331720"/>
            <a:ext cx="523803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무엇을 물어보나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6126" y="2331720"/>
            <a:ext cx="56003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무엇이 걸리나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2697480"/>
            <a:ext cx="11387023" cy="9525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752344"/>
            <a:ext cx="5238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환자 데이터를 어디에 두나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6126" y="2752344"/>
            <a:ext cx="560035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망분리 · 반출 승인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3410712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410712"/>
            <a:ext cx="5238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누가 무엇까지 볼 수 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6126" y="3410712"/>
            <a:ext cx="560035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접근 권한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4069080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069080"/>
            <a:ext cx="5238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누가 봤는지 남나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6126" y="4069080"/>
            <a:ext cx="560035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감사 로그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4727448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727448"/>
            <a:ext cx="5238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누가 승인했나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126" y="4727448"/>
            <a:ext cx="560035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책임 소재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5385816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5385816"/>
            <a:ext cx="11387023" cy="658368"/>
          </a:xfrm>
          <a:prstGeom prst="rect">
            <a:avLst/>
          </a:prstGeom>
          <a:solidFill>
            <a:srgbClr val="09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385816"/>
            <a:ext cx="5238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모델은 좋아졌는데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6126" y="5385816"/>
            <a:ext cx="560035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5EEC83"/>
                </a:solidFill>
                <a:latin typeface="Arial"/>
              </a:rPr>
              <a:t>이건 하나도 안 쉬워졌습니다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그런데 </a:t>
            </a:r>
            <a:r>
              <a:rPr sz="3200" b="1">
                <a:solidFill>
                  <a:srgbClr val="5EEC83"/>
                </a:solidFill>
                <a:latin typeface="Arial"/>
              </a:rPr>
              <a:t>이거면</a:t>
            </a:r>
            <a:r>
              <a:rPr sz="3200" b="1">
                <a:solidFill>
                  <a:srgbClr val="FFFFFF"/>
                </a:solidFill>
                <a:latin typeface="Arial"/>
              </a:rPr>
              <a:t>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645920"/>
            <a:ext cx="11387023" cy="56692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105000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저장소 만들기 — Use this template 버튼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322576"/>
            <a:ext cx="11387023" cy="56692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22576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22576"/>
            <a:ext cx="105000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AI가 결과를 올릴 수 있게 허용 — 체크박스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2999232"/>
            <a:ext cx="11387023" cy="56692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99232"/>
            <a:ext cx="105000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데이터베이스 비밀번호 등록 — 칸 하나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3675888"/>
            <a:ext cx="11387023" cy="56692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8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75888"/>
            <a:ext cx="105000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대시보드 주소 켜기 — 드롭다운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" y="4352544"/>
            <a:ext cx="11387023" cy="56692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52544"/>
            <a:ext cx="105000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Actions 켜기 — 버튼 하나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5120640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B0BAC3"/>
                </a:solidFill>
                <a:latin typeface="Arial"/>
              </a:rPr>
              <a:t>전부 설정 화면에서 누르기만 하는데, 이걸로 </a:t>
            </a:r>
            <a:r>
              <a:rPr sz="1450" b="1">
                <a:solidFill>
                  <a:srgbClr val="FFFFFF"/>
                </a:solidFill>
                <a:latin typeface="Arial"/>
              </a:rPr>
              <a:t>접근 통제 · 감사 로그 · 승인 게이트</a:t>
            </a:r>
            <a:r>
              <a:rPr sz="1450" b="0">
                <a:solidFill>
                  <a:srgbClr val="B0BAC3"/>
                </a:solidFill>
                <a:latin typeface="Arial"/>
              </a:rPr>
              <a:t>가 다 붙습니다.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7D8790"/>
                </a:solidFill>
                <a:latin typeface="Arial"/>
              </a:rPr>
              <a:t>심의를 없애는 게 아니라, </a:t>
            </a:r>
            <a:r>
              <a:rPr sz="1450" b="1">
                <a:solidFill>
                  <a:srgbClr val="B0BAC3"/>
                </a:solidFill>
                <a:latin typeface="Arial"/>
              </a:rPr>
              <a:t>심의에서 물어볼 것들에 답할 수 있는 상태</a:t>
            </a:r>
            <a:r>
              <a:rPr sz="1450" b="0">
                <a:solidFill>
                  <a:srgbClr val="7D8790"/>
                </a:solidFill>
                <a:latin typeface="Arial"/>
              </a:rPr>
              <a:t>를 만드는 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오늘 </a:t>
            </a:r>
            <a:r>
              <a:rPr sz="3200" b="1">
                <a:solidFill>
                  <a:srgbClr val="5EEC83"/>
                </a:solidFill>
                <a:latin typeface="Arial"/>
              </a:rPr>
              <a:t>만드는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481328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B0BAC3"/>
                </a:solidFill>
                <a:latin typeface="Arial"/>
              </a:rPr>
              <a:t>매일 나오는 논문 중에서 </a:t>
            </a:r>
            <a:r>
              <a:rPr sz="2000" b="1">
                <a:solidFill>
                  <a:srgbClr val="FFFFFF"/>
                </a:solidFill>
                <a:latin typeface="Arial"/>
              </a:rPr>
              <a:t>우리 환자에게 쓸 만한 것</a:t>
            </a:r>
            <a:r>
              <a:rPr sz="2000" b="0">
                <a:solidFill>
                  <a:srgbClr val="B0BAC3"/>
                </a:solidFill>
                <a:latin typeface="Arial"/>
              </a:rPr>
              <a:t>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B0BAC3"/>
                </a:solidFill>
                <a:latin typeface="Arial"/>
              </a:rPr>
              <a:t>골라내고, 검증하고, 쌓아 두는 장치.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2926080"/>
            <a:ext cx="11387023" cy="71323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868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받고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926080"/>
            <a:ext cx="100428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우리 데이터에 맞는 최신 논문이 매일 올라옵니다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3785616"/>
            <a:ext cx="11387023" cy="71323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85616"/>
            <a:ext cx="868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묻고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85616"/>
            <a:ext cx="100428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그중 하나에 내 질문을 붙입니다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" y="4645152"/>
            <a:ext cx="11387023" cy="71323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868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645152"/>
            <a:ext cx="100428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정말 우리에게 쓸 만한지 확인해서 알려줍니다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" y="5504688"/>
            <a:ext cx="11387023" cy="71323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868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쌓고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504688"/>
            <a:ext cx="100428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확인된 것만 한 페이지에 모입니다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457200"/>
            <a:ext cx="113870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실제로는 </a:t>
            </a:r>
            <a:r>
              <a:rPr sz="3000" b="1">
                <a:solidFill>
                  <a:srgbClr val="5EEC83"/>
                </a:solidFill>
                <a:latin typeface="Arial"/>
              </a:rPr>
              <a:t>이렇게</a:t>
            </a:r>
            <a:r>
              <a:rPr sz="3000" b="1">
                <a:solidFill>
                  <a:srgbClr val="FFFFFF"/>
                </a:solidFill>
                <a:latin typeface="Arial"/>
              </a:rPr>
              <a:t> 돕니다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188720"/>
            <a:ext cx="11387023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661" y="1353312"/>
            <a:ext cx="8884373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세 가지가 </a:t>
            </a:r>
            <a:r>
              <a:rPr sz="3200" b="1">
                <a:solidFill>
                  <a:srgbClr val="5EEC83"/>
                </a:solidFill>
                <a:latin typeface="Arial"/>
              </a:rPr>
              <a:t>동시에</a:t>
            </a:r>
            <a:r>
              <a:rPr sz="3200" b="1">
                <a:solidFill>
                  <a:srgbClr val="FFFFFF"/>
                </a:solidFill>
                <a:latin typeface="Arial"/>
              </a:rPr>
              <a:t> 필요합니다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224028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49631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0837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환자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5818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논문이 우리에게 맞는지 보려면 우리 환자를 봐야 합니다. 그런데 그게 나가면 안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9450" y="224028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45482" y="249631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482" y="300837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최신 논문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482" y="375818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매일 쏟아집니다. 무엇이 우리와 관련 있는지는 사람이 다 볼 수 없습니다.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564" y="2240280"/>
            <a:ext cx="3612794" cy="32004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2596" y="249631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596" y="300837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판단할 사람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758184"/>
            <a:ext cx="310073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둘을 잇는 판단은 임상의만 할 수 있습니다. 그런데 시간이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먼저 </a:t>
            </a:r>
            <a:r>
              <a:rPr sz="3200" b="1">
                <a:solidFill>
                  <a:srgbClr val="5EEC83"/>
                </a:solidFill>
                <a:latin typeface="Arial"/>
              </a:rPr>
              <a:t>환자 데이터</a:t>
            </a:r>
            <a:r>
              <a:rPr sz="3200" b="1">
                <a:solidFill>
                  <a:srgbClr val="FFFFFF"/>
                </a:solidFill>
                <a:latin typeface="Arial"/>
              </a:rPr>
              <a:t>부터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20240"/>
            <a:ext cx="11387023" cy="22860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1920240"/>
            <a:ext cx="54864" cy="2286000"/>
          </a:xfrm>
          <a:prstGeom prst="rect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76272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>
                <a:solidFill>
                  <a:srgbClr val="7D8790"/>
                </a:solidFill>
                <a:latin typeface="Arial"/>
              </a:rPr>
              <a:t>합성 데이터 · 실제 환자 기록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560320"/>
            <a:ext cx="1065550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흉부 X선 </a:t>
            </a:r>
            <a:r>
              <a:rPr sz="1800" b="1">
                <a:solidFill>
                  <a:srgbClr val="FFFFFF"/>
                </a:solidFill>
                <a:latin typeface="Arial"/>
              </a:rPr>
              <a:t>272건</a:t>
            </a:r>
            <a:r>
              <a:rPr sz="1800" b="0">
                <a:solidFill>
                  <a:srgbClr val="FFFFFF"/>
                </a:solidFill>
                <a:latin typeface="Arial"/>
              </a:rPr>
              <a:t>, 환자 </a:t>
            </a:r>
            <a:r>
              <a:rPr sz="1800" b="1">
                <a:solidFill>
                  <a:srgbClr val="FFFFFF"/>
                </a:solidFill>
                <a:latin typeface="Arial"/>
              </a:rPr>
              <a:t>153명</a:t>
            </a:r>
            <a:r>
              <a:rPr sz="1800" b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결절 12건 · 기흉 12건 · 심비대 10건.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7D8790"/>
                </a:solidFill>
                <a:latin typeface="Arial"/>
              </a:rPr>
              <a:t>그리고 매일 쏟아지는 의료 AI 논문들.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4617720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0BAC3"/>
                </a:solidFill>
                <a:latin typeface="Arial"/>
              </a:rPr>
              <a:t>질문은 하나입니다.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"이 논문, 우리 데이터에 정말 쓸 만한가?"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먼저 분명히 해두겠습니다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920240"/>
            <a:ext cx="11387023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오늘 쓰는 환자 데이터는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5EEC83"/>
                </a:solidFill>
                <a:latin typeface="Arial"/>
              </a:rPr>
              <a:t>전부 합성 데이터</a:t>
            </a:r>
            <a:r>
              <a:rPr sz="3000" b="1">
                <a:solidFill>
                  <a:srgbClr val="FFFFFF"/>
                </a:solidFill>
                <a:latin typeface="Arial"/>
              </a:rPr>
              <a:t>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3657600"/>
            <a:ext cx="113870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공개 영상(NIH ChestX-ray14)에 </a:t>
            </a:r>
            <a:r>
              <a:rPr sz="1550" b="1">
                <a:solidFill>
                  <a:srgbClr val="FFFFFF"/>
                </a:solidFill>
                <a:latin typeface="Arial"/>
              </a:rPr>
              <a:t>병원 운영 데이터의 모양</a:t>
            </a:r>
            <a:r>
              <a:rPr sz="1550" b="0">
                <a:solidFill>
                  <a:srgbClr val="B0BAC3"/>
                </a:solidFill>
                <a:latin typeface="Arial"/>
              </a:rPr>
              <a:t>을 붙여 만들었습니다.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이름·등록번호·전화번호·판독문은 전부 고정 시드로 생성한 가짜입니다.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>
                <a:solidFill>
                  <a:srgbClr val="7D8790"/>
                </a:solidFill>
                <a:latin typeface="Arial"/>
              </a:rPr>
              <a:t>그렇게 만든 이유는 다음 장에 있습니다. 가릴 것이 없으면 가리는 걸 보여드릴 수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가리는 것은 </a:t>
            </a:r>
            <a:r>
              <a:rPr sz="3200" b="1">
                <a:solidFill>
                  <a:srgbClr val="5EEC83"/>
                </a:solidFill>
                <a:latin typeface="Arial"/>
              </a:rPr>
              <a:t>누구인지</a:t>
            </a:r>
            <a:r>
              <a:rPr sz="3200" b="1">
                <a:solidFill>
                  <a:srgbClr val="FFFFFF"/>
                </a:solidFill>
                <a:latin typeface="Arial"/>
              </a:rPr>
              <a:t>뿐입니다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2011680"/>
            <a:ext cx="50102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가려서 나갑니다 (9)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78386" y="2011680"/>
            <a:ext cx="58280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그대로 나갑니다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2377440"/>
            <a:ext cx="11387023" cy="9525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432304"/>
            <a:ext cx="501029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이름 · 등록번호 · 생년월일 · 전화번호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8386" y="2432304"/>
            <a:ext cx="582809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소견 라벨 · 성별 · 나이 · 촬영자세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3236976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236976"/>
            <a:ext cx="501029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검사번호 · 처방의 · 판독의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8386" y="3236976"/>
            <a:ext cx="582809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판독문 · 임상정보 — 이름·번호만 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4041648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041648"/>
            <a:ext cx="501029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환자키 · 영상 파일명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8386" y="4041648"/>
            <a:ext cx="582809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진료과 · 병동 · 내원구분 · 검사일시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4846320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4846320"/>
            <a:ext cx="11387023" cy="804672"/>
          </a:xfrm>
          <a:prstGeom prst="rect">
            <a:avLst/>
          </a:prstGeom>
          <a:solidFill>
            <a:srgbClr val="09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846320"/>
            <a:ext cx="501029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같은 사람은 같은 토큰으로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8386" y="4846320"/>
            <a:ext cx="582809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5EEC83"/>
                </a:solidFill>
                <a:latin typeface="Arial"/>
              </a:rPr>
              <a:t>분석에 필요한 것은 다 남습니다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566928"/>
            <a:ext cx="1138702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판독문은 </a:t>
            </a:r>
            <a:r>
              <a:rPr sz="3000" b="1">
                <a:solidFill>
                  <a:srgbClr val="5EEC83"/>
                </a:solidFill>
                <a:latin typeface="Arial"/>
              </a:rPr>
              <a:t>이렇게</a:t>
            </a:r>
            <a:r>
              <a:rPr sz="3000" b="1">
                <a:solidFill>
                  <a:srgbClr val="FFFFFF"/>
                </a:solidFill>
                <a:latin typeface="Arial"/>
              </a:rPr>
              <a:t> 나갑니다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463040"/>
            <a:ext cx="11387023" cy="2011680"/>
          </a:xfrm>
          <a:prstGeom prst="roundRect">
            <a:avLst>
              <a:gd name="adj" fmla="val 8000"/>
            </a:avLst>
          </a:prstGeom>
          <a:solidFill>
            <a:srgbClr val="080B09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664208"/>
            <a:ext cx="10801807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D8790"/>
                </a:solidFill>
                <a:latin typeface="Consolas"/>
              </a:rPr>
              <a:t>원본 (컨테이너 안)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[판독 소견] </a:t>
            </a:r>
            <a:r>
              <a:rPr sz="1300" b="1">
                <a:solidFill>
                  <a:srgbClr val="FF8A80"/>
                </a:solidFill>
                <a:latin typeface="Consolas"/>
              </a:rPr>
              <a:t>김서연</a:t>
            </a:r>
            <a:r>
              <a:rPr sz="1300" b="0">
                <a:solidFill>
                  <a:srgbClr val="FFFFFF"/>
                </a:solidFill>
                <a:latin typeface="Consolas"/>
              </a:rPr>
              <a:t>께서 환자의 흉부 X선 소견입니다.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Emphysematous changes in the upper lobes.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Pneumothorax noted on the right side.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판독의: </a:t>
            </a:r>
            <a:r>
              <a:rPr sz="1300" b="1">
                <a:solidFill>
                  <a:srgbClr val="FF8A80"/>
                </a:solidFill>
                <a:latin typeface="Consolas"/>
              </a:rPr>
              <a:t>Kenneth Gentry</a:t>
            </a:r>
            <a:r>
              <a:rPr sz="1300" b="0">
                <a:solidFill>
                  <a:srgbClr val="FFFFFF"/>
                </a:solidFill>
                <a:latin typeface="Consola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3657600"/>
            <a:ext cx="11387023" cy="2011680"/>
          </a:xfrm>
          <a:prstGeom prst="roundRect">
            <a:avLst>
              <a:gd name="adj" fmla="val 8000"/>
            </a:avLst>
          </a:prstGeom>
          <a:solidFill>
            <a:srgbClr val="080B09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858768"/>
            <a:ext cx="10801807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D8790"/>
                </a:solidFill>
                <a:latin typeface="Consolas"/>
              </a:rPr>
              <a:t>AI가 받는 것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[판독 소견] </a:t>
            </a:r>
            <a:r>
              <a:rPr sz="1300" b="1">
                <a:solidFill>
                  <a:srgbClr val="5EEC83"/>
                </a:solidFill>
                <a:latin typeface="Consolas"/>
              </a:rPr>
              <a:t>NAME_a3f1c8...</a:t>
            </a:r>
            <a:r>
              <a:rPr sz="1300" b="0">
                <a:solidFill>
                  <a:srgbClr val="FFFFFF"/>
                </a:solidFill>
                <a:latin typeface="Consolas"/>
              </a:rPr>
              <a:t>께서 환자의 흉부 X선 소견입니다.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Emphysematous changes in the upper lobes.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Pneumothorax noted on the right side.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판독의: </a:t>
            </a:r>
            <a:r>
              <a:rPr sz="1300" b="1">
                <a:solidFill>
                  <a:srgbClr val="5EEC83"/>
                </a:solidFill>
                <a:latin typeface="Consolas"/>
              </a:rPr>
              <a:t>CLINICIAN_7d2e...</a:t>
            </a:r>
            <a:r>
              <a:rPr sz="1300" b="0">
                <a:solidFill>
                  <a:srgbClr val="FFFFFF"/>
                </a:solidFill>
                <a:latin typeface="Consola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5897880"/>
            <a:ext cx="11387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소견은 그대로, 사람만 토큰으로.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그래서 </a:t>
            </a:r>
            <a:r>
              <a:rPr sz="3200" b="1">
                <a:solidFill>
                  <a:srgbClr val="5EEC83"/>
                </a:solidFill>
                <a:latin typeface="Arial"/>
              </a:rPr>
              <a:t>이런 분석</a:t>
            </a:r>
            <a:r>
              <a:rPr sz="3200" b="1">
                <a:solidFill>
                  <a:srgbClr val="FFFFFF"/>
                </a:solidFill>
                <a:latin typeface="Arial"/>
              </a:rPr>
              <a:t>이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20240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코호트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20240"/>
            <a:ext cx="985997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소견별 몇 명 · 성별·연령 분포 · 하위군 크기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734056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34056"/>
            <a:ext cx="985997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논문 코호트와 우리 코호트가 얼마나 닮았나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547872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판독문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47872"/>
            <a:ext cx="985997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어떤 표현이 쓰이나 · 소견 기술의 일관성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4361688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그러나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61688"/>
            <a:ext cx="985997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환자 한 명의 행은 나가지 않습니다 — 집계만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5257800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0BAC3"/>
                </a:solidFill>
                <a:latin typeface="Arial"/>
              </a:rPr>
              <a:t>누구인지는 못 알아내고, </a:t>
            </a:r>
            <a:r>
              <a:rPr sz="1500" b="1">
                <a:solidFill>
                  <a:srgbClr val="FFFFFF"/>
                </a:solidFill>
                <a:latin typeface="Arial"/>
              </a:rPr>
              <a:t>무엇이 있는지는 다 알 수 있습니다.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7D8790"/>
                </a:solidFill>
                <a:latin typeface="Arial"/>
              </a:rPr>
              <a:t>그리고 무엇을 왜 가렸는지가 파일에 적혀 있습니다 — 심의에서 그대로 보여드리면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그럼 </a:t>
            </a:r>
            <a:r>
              <a:rPr sz="3200" b="1">
                <a:solidFill>
                  <a:srgbClr val="5EEC83"/>
                </a:solidFill>
                <a:latin typeface="Arial"/>
              </a:rPr>
              <a:t>한 번에</a:t>
            </a:r>
            <a:r>
              <a:rPr sz="3200" b="1">
                <a:solidFill>
                  <a:srgbClr val="FFFFFF"/>
                </a:solidFill>
                <a:latin typeface="Arial"/>
              </a:rPr>
              <a:t> 물어보면 안 됩니까?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2057400"/>
            <a:ext cx="11387023" cy="1463040"/>
          </a:xfrm>
          <a:prstGeom prst="rect">
            <a:avLst/>
          </a:prstGeom>
          <a:solidFill>
            <a:srgbClr val="1B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2057400"/>
            <a:ext cx="54864" cy="1463040"/>
          </a:xfrm>
          <a:prstGeom prst="rect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057400"/>
            <a:ext cx="10655503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"이 논문 우리 데이터에 쓸 수 있는지 분석해서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대시보드로 만들어 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3977639"/>
            <a:ext cx="1138702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50" b="0">
                <a:solidFill>
                  <a:srgbClr val="B0BAC3"/>
                </a:solidFill>
                <a:latin typeface="Arial"/>
              </a:rPr>
              <a:t>답은 나옵니다. 길고, 그럴듯하고, </a:t>
            </a:r>
            <a:r>
              <a:rPr sz="1650" b="1">
                <a:solidFill>
                  <a:srgbClr val="FFFFFF"/>
                </a:solidFill>
                <a:latin typeface="Arial"/>
              </a:rPr>
              <a:t>이미 다 끝나 있습니다.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50" b="0">
                <a:solidFill>
                  <a:srgbClr val="B0BAC3"/>
                </a:solidFill>
                <a:latin typeface="Arial"/>
              </a:rPr>
              <a:t>그런데 </a:t>
            </a:r>
            <a:r>
              <a:rPr sz="1650" b="1">
                <a:solidFill>
                  <a:srgbClr val="FFFFFF"/>
                </a:solidFill>
                <a:latin typeface="Arial"/>
              </a:rPr>
              <a:t>내가 물어보고 싶었던 게 그게 아니었다면?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50" b="0">
                <a:solidFill>
                  <a:srgbClr val="7D8790"/>
                </a:solidFill>
                <a:latin typeface="Arial"/>
              </a:rPr>
              <a:t>확인할 지점이 한 번도 없었습니다.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그래서 </a:t>
            </a:r>
            <a:r>
              <a:rPr sz="3200" b="1">
                <a:solidFill>
                  <a:srgbClr val="5EEC83"/>
                </a:solidFill>
                <a:latin typeface="Arial"/>
              </a:rPr>
              <a:t>네 번</a:t>
            </a:r>
            <a:r>
              <a:rPr sz="3200" b="1">
                <a:solidFill>
                  <a:srgbClr val="FFFFFF"/>
                </a:solidFill>
                <a:latin typeface="Arial"/>
              </a:rPr>
              <a:t> 멈춥니다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691640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11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10500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수집 — AI가 우리 데이터를 먼저 보고, 검색어를 스스로 만들어 논문을 찾는다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441448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411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41448"/>
            <a:ext cx="10500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기획 — "이렇게 분석하고 이렇게 보여드리겠습니다"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191256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91256"/>
            <a:ext cx="411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91256"/>
            <a:ext cx="10500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분석 — 승인된 계획 그대로. 범위를 넓히지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3941064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41064"/>
            <a:ext cx="411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41064"/>
            <a:ext cx="10500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검증 — 다른 AI가 숫자를 전부 다시 계산한다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" y="4690872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90872"/>
            <a:ext cx="411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90872"/>
            <a:ext cx="10500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대시보드 — 통과한 것만 쌓인다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5577840"/>
            <a:ext cx="11387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1단계만 자동으로 병합됩니다. </a:t>
            </a:r>
            <a:r>
              <a:rPr sz="1550" b="1">
                <a:solidFill>
                  <a:srgbClr val="FFFFFF"/>
                </a:solidFill>
                <a:latin typeface="Arial"/>
              </a:rPr>
              <a:t>나머지는 함께 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2단계 — 분석 </a:t>
            </a:r>
            <a:r>
              <a:rPr sz="3200" b="1">
                <a:solidFill>
                  <a:srgbClr val="5EEC83"/>
                </a:solidFill>
                <a:latin typeface="Arial"/>
              </a:rPr>
              <a:t>전에</a:t>
            </a:r>
            <a:r>
              <a:rPr sz="3200" b="1">
                <a:solidFill>
                  <a:srgbClr val="FFFFFF"/>
                </a:solidFill>
                <a:latin typeface="Arial"/>
              </a:rPr>
              <a:t> 멈춥니다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481328"/>
            <a:ext cx="113870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>
                <a:solidFill>
                  <a:srgbClr val="B0BAC3"/>
                </a:solidFill>
                <a:latin typeface="Arial"/>
              </a:rPr>
              <a:t>AI가 논문을 읽고, 우리 데이터를 조회하고,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"이렇게 해보겠습니다"</a:t>
            </a:r>
            <a:r>
              <a:rPr sz="1900" b="0">
                <a:solidFill>
                  <a:srgbClr val="B0BAC3"/>
                </a:solidFill>
                <a:latin typeface="Arial"/>
              </a:rPr>
              <a:t>를 먼저 가져옵니다.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2697480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697480"/>
            <a:ext cx="99971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어떤 데이터로 무엇을 했나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3447288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47288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우리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47288"/>
            <a:ext cx="99971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실제로 조회한 우리 코호트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" y="4197096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97096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97096"/>
            <a:ext cx="99971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무엇이 있고 무엇이 없나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" y="4946904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46904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46904"/>
            <a:ext cx="99971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어떤 그래프로 무엇을 보여줄까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5623560"/>
            <a:ext cx="11387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아직 분석은 </a:t>
            </a:r>
            <a:r>
              <a:rPr sz="1550" b="1">
                <a:solidFill>
                  <a:srgbClr val="FFFFFF"/>
                </a:solidFill>
                <a:latin typeface="Arial"/>
              </a:rPr>
              <a:t>하지 않습니다.</a:t>
            </a:r>
            <a:r>
              <a:rPr sz="1550" b="0">
                <a:solidFill>
                  <a:srgbClr val="B0BAC3"/>
                </a:solidFill>
                <a:latin typeface="Arial"/>
              </a:rPr>
              <a:t> 기획서만 씁니다.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승인하실 때 </a:t>
            </a:r>
            <a:r>
              <a:rPr sz="3200" b="1">
                <a:solidFill>
                  <a:srgbClr val="5EEC83"/>
                </a:solidFill>
                <a:latin typeface="Arial"/>
              </a:rPr>
              <a:t>이 셋</a:t>
            </a:r>
            <a:r>
              <a:rPr sz="3200" b="1">
                <a:solidFill>
                  <a:srgbClr val="FFFFFF"/>
                </a:solidFill>
                <a:latin typeface="Arial"/>
              </a:rPr>
              <a:t>만 보세요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이 숫자, 진짜 조회한 값인가?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"우리 데이터" 칸의 숫자가 그럴듯하게 지어낸 값은 아닌지.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9450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45482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482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"얻을 수 없는 것"이 비어 있나?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482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한계를 안 쓴 기획서는 의심하세요. 못 하는 게 없는 분석은 없습니다.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564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2596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596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내가 물어본 것에 답하나?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제안한 그래프가 내 질문이 아니라 논문 이야기만 하고 있지 않은지.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5074920"/>
            <a:ext cx="113870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하나라도 걸리면 </a:t>
            </a:r>
            <a:r>
              <a:rPr sz="1600" b="1">
                <a:solidFill>
                  <a:srgbClr val="5EEC83"/>
                </a:solidFill>
                <a:latin typeface="Arial"/>
              </a:rPr>
              <a:t>Merge 대신 댓글</a:t>
            </a:r>
            <a:r>
              <a:rPr sz="1600" b="0">
                <a:solidFill>
                  <a:srgbClr val="B0BAC3"/>
                </a:solidFill>
                <a:latin typeface="Arial"/>
              </a:rPr>
              <a:t>을 남기세요. 그게 오늘 배우실 것입니다.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4단계 — </a:t>
            </a:r>
            <a:r>
              <a:rPr sz="3200" b="1">
                <a:solidFill>
                  <a:srgbClr val="5EEC83"/>
                </a:solidFill>
                <a:latin typeface="Arial"/>
              </a:rPr>
              <a:t>다른 AI</a:t>
            </a:r>
            <a:r>
              <a:rPr sz="3200" b="1">
                <a:solidFill>
                  <a:srgbClr val="FFFFFF"/>
                </a:solidFill>
                <a:latin typeface="Arial"/>
              </a:rPr>
              <a:t>가 검사합니다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874519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DOI·저자·게재일을 직접 다시 조회해 대조. 논문이 안 한 말은 아닌지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825495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25495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숫자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25495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쿼리를 새로 짜서 다시 계산. 앞 AI의 SQL은 베끼지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776471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76471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앞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76471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계획을 지켰는지 · 범위를 넓혔는지 · 유보 표현이 사라졌는지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4892040"/>
            <a:ext cx="1138702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앞 단계를 쓴 모델과 </a:t>
            </a:r>
            <a:r>
              <a:rPr sz="1600" b="1">
                <a:solidFill>
                  <a:srgbClr val="FFFFFF"/>
                </a:solidFill>
                <a:latin typeface="Arial"/>
              </a:rPr>
              <a:t>다른 모델</a:t>
            </a:r>
            <a:r>
              <a:rPr sz="1600" b="0">
                <a:solidFill>
                  <a:srgbClr val="B0BAC3"/>
                </a:solidFill>
                <a:latin typeface="Arial"/>
              </a:rPr>
              <a:t>이 돌립니다.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자기가 쓴 답을 자기가 채점하면 안 되니까요.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7D8790"/>
                </a:solidFill>
                <a:latin typeface="Arial"/>
              </a:rPr>
              <a:t>세 관문 중 하나라도 못 넘으면 수정 요청이 붙습니다.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어제 실제로 </a:t>
            </a:r>
            <a:r>
              <a:rPr sz="3200" b="1">
                <a:solidFill>
                  <a:srgbClr val="5EEC83"/>
                </a:solidFill>
                <a:latin typeface="Arial"/>
              </a:rPr>
              <a:t>이렇게</a:t>
            </a:r>
            <a:r>
              <a:rPr sz="3200" b="1">
                <a:solidFill>
                  <a:srgbClr val="FFFFFF"/>
                </a:solidFill>
                <a:latin typeface="Arial"/>
              </a:rPr>
              <a:t> 잡았습니다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783080"/>
            <a:ext cx="11387023" cy="1920240"/>
          </a:xfrm>
          <a:prstGeom prst="roundRect">
            <a:avLst>
              <a:gd name="adj" fmla="val 8000"/>
            </a:avLst>
          </a:prstGeom>
          <a:solidFill>
            <a:srgbClr val="080B09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84248"/>
            <a:ext cx="10801807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D8790"/>
                </a:solidFill>
                <a:latin typeface="Consolas"/>
              </a:rPr>
              <a:t>검증 결과 — 수정 요청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8A80"/>
                </a:solidFill>
                <a:latin typeface="Consolas"/>
              </a:rPr>
              <a:t>✗ 데이터 분석</a:t>
            </a:r>
            <a:r>
              <a:rPr sz="1300" b="0">
                <a:solidFill>
                  <a:srgbClr val="FFFFFF"/>
                </a:solidFill>
                <a:latin typeface="Consolas"/>
              </a:rPr>
              <a:t>   k=10 이웃 순도를 </a:t>
            </a:r>
            <a:r>
              <a:rPr sz="1300" b="1">
                <a:solidFill>
                  <a:srgbClr val="FF8A80"/>
                </a:solidFill>
                <a:latin typeface="Consolas"/>
              </a:rPr>
              <a:t>6.0%</a:t>
            </a:r>
            <a:r>
              <a:rPr sz="1300" b="0">
                <a:solidFill>
                  <a:srgbClr val="FFFFFF"/>
                </a:solidFill>
                <a:latin typeface="Consolas"/>
              </a:rPr>
              <a:t>로 보고했으나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  쿼리를 새로 짜서 다시 계산하니 </a:t>
            </a:r>
            <a:r>
              <a:rPr sz="1300" b="1">
                <a:solidFill>
                  <a:srgbClr val="5EEC83"/>
                </a:solidFill>
                <a:latin typeface="Consolas"/>
              </a:rPr>
              <a:t>5.0%</a:t>
            </a:r>
            <a:r>
              <a:rPr sz="1300" b="0">
                <a:solidFill>
                  <a:srgbClr val="FFFFFF"/>
                </a:solidFill>
                <a:latin typeface="Consolas"/>
              </a:rPr>
              <a:t>였습니다.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023360"/>
            <a:ext cx="11387023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사람이 이걸 잡으려면 쿼리를 다시 짜야 합니다.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"이거 맞아?"라고 다시 물어봐서는 절대 안 나옵니다.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7D8790"/>
                </a:solidFill>
                <a:latin typeface="Arial"/>
              </a:rPr>
              <a:t>오늘 여러분 것에서는 통과할 수도, 다른 것이 걸릴 수도 있습니다.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B0BAC3"/>
                </a:solidFill>
                <a:latin typeface="Arial"/>
              </a:rPr>
              <a:t>걸리면 그게 오늘의 수확입니다.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판정은 </a:t>
            </a:r>
            <a:r>
              <a:rPr sz="3200" b="1">
                <a:solidFill>
                  <a:srgbClr val="5EEC83"/>
                </a:solidFill>
                <a:latin typeface="Arial"/>
              </a:rPr>
              <a:t>셋 중 하나</a:t>
            </a:r>
            <a:r>
              <a:rPr sz="3200" b="1">
                <a:solidFill>
                  <a:srgbClr val="FFFFFF"/>
                </a:solidFill>
                <a:latin typeface="Arial"/>
              </a:rPr>
              <a:t>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65960"/>
            <a:ext cx="11387023" cy="74980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적용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965960"/>
            <a:ext cx="94942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우리 데이터로 확인할 수 있고, 확인해 보니 맞다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862072"/>
            <a:ext cx="11387023" cy="749808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62072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조건부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862072"/>
            <a:ext cx="94942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일부는 되고 일부는 안 된다 — 무엇이 안 되는지까지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758184"/>
            <a:ext cx="11387023" cy="749808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58184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불충분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758184"/>
            <a:ext cx="94942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우리 데이터로는 판단할 수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4754880"/>
            <a:ext cx="1138702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세 번째도 </a:t>
            </a:r>
            <a:r>
              <a:rPr sz="1600" b="1">
                <a:solidFill>
                  <a:srgbClr val="FFFFFF"/>
                </a:solidFill>
                <a:latin typeface="Arial"/>
              </a:rPr>
              <a:t>정당한 결론</a:t>
            </a:r>
            <a:r>
              <a:rPr sz="1600" b="0">
                <a:solidFill>
                  <a:srgbClr val="B0BAC3"/>
                </a:solidFill>
                <a:latin typeface="Arial"/>
              </a:rPr>
              <a:t>입니다. 오히려 자주 나와야 정상입니다.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AI가 근거를 대고 "모르겠습니다"라고 말하는 것</a:t>
            </a:r>
            <a:r>
              <a:rPr sz="1600" b="0">
                <a:solidFill>
                  <a:srgbClr val="B0BAC3"/>
                </a:solidFill>
                <a:latin typeface="Arial"/>
              </a:rPr>
              <a:t>을 보신 적 있으십니까?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7D8790"/>
                </a:solidFill>
                <a:latin typeface="Arial"/>
              </a:rPr>
              <a:t>그냥 물어보면 절대 안 나옵니다. 무조건 뭐라도 답합니다.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남는 것은 </a:t>
            </a:r>
            <a:r>
              <a:rPr sz="3200" b="1">
                <a:solidFill>
                  <a:srgbClr val="5EEC83"/>
                </a:solidFill>
                <a:latin typeface="Arial"/>
              </a:rPr>
              <a:t>네 칸</a:t>
            </a:r>
            <a:r>
              <a:rPr sz="3200" b="1">
                <a:solidFill>
                  <a:srgbClr val="FFFFFF"/>
                </a:solidFill>
                <a:latin typeface="Arial"/>
              </a:rPr>
              <a:t>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874519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무엇을 했나 — 논문이 한 일을 우리 맥락에서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679191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1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무엇이 필요했나 — 그 방법이 요구하는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483863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83863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83863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그것이 우리에게 있나 — 있는 것, 그리고 없는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4288535"/>
            <a:ext cx="11387023" cy="676656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88535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88535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그래서 무엇이 남나 — 실제로 가져갈 수 있는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5120640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B0BAC3"/>
                </a:solidFill>
                <a:latin typeface="Arial"/>
              </a:rPr>
              <a:t>논문을 볼 때 </a:t>
            </a:r>
            <a:r>
              <a:rPr sz="1600" b="1">
                <a:solidFill>
                  <a:srgbClr val="FFFFFF"/>
                </a:solidFill>
                <a:latin typeface="Arial"/>
              </a:rPr>
              <a:t>이 순서로만 물어도 절반은 걸러집니다.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7D8790"/>
                </a:solidFill>
                <a:latin typeface="Arial"/>
              </a:rPr>
              <a:t>③에서 "없는 것"이 너무 많으면, 그 논문은 우리 것이 아닙니다.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그래서 </a:t>
            </a:r>
            <a:r>
              <a:rPr sz="3200" b="1">
                <a:solidFill>
                  <a:srgbClr val="5EEC83"/>
                </a:solidFill>
                <a:latin typeface="Arial"/>
              </a:rPr>
              <a:t>누가 해도</a:t>
            </a:r>
            <a:r>
              <a:rPr sz="3200" b="1">
                <a:solidFill>
                  <a:srgbClr val="FFFFFF"/>
                </a:solidFill>
                <a:latin typeface="Arial"/>
              </a:rPr>
              <a:t> 같은 품질입니다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1508760"/>
            <a:ext cx="1138702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칸이 정해져 있으니까요.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2377440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제목 · 저자 · DOI · 초록 — 같은 형식으로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3328416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28416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판정 · 근거 수치 · 한계 — 같은 형식으로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" y="4279392"/>
            <a:ext cx="11387023" cy="786384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79392"/>
            <a:ext cx="1005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79392"/>
            <a:ext cx="9905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출처 · 숫자 · 범위 세 관문 — 같은 형식으로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5257800"/>
            <a:ext cx="11387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0">
                <a:solidFill>
                  <a:srgbClr val="B0BAC3"/>
                </a:solidFill>
                <a:latin typeface="Arial"/>
              </a:rPr>
              <a:t>잘하는 분 것만 좋은 게 아닙니다.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처음 하시는 분도 같은 칸을 채우면 같은 수준이 나옵니다.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이미 하고 계신 일입니다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920240"/>
            <a:ext cx="523803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GitHub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6126" y="1920240"/>
            <a:ext cx="56003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D8790"/>
                </a:solidFill>
                <a:latin typeface="Arial"/>
              </a:rPr>
              <a:t>연구실에서는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2286000"/>
            <a:ext cx="11387023" cy="9525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40864"/>
            <a:ext cx="523803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이슈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6126" y="2340864"/>
            <a:ext cx="560035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"이 논문 좀 봐 주세요" 요청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3035808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035808"/>
            <a:ext cx="523803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Pull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6126" y="3035808"/>
            <a:ext cx="560035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분석 계획서 회람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3730752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730752"/>
            <a:ext cx="523803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Merge (승인)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6126" y="3730752"/>
            <a:ext cx="560035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교수님 컨펌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4425696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4425696"/>
            <a:ext cx="11387023" cy="694944"/>
          </a:xfrm>
          <a:prstGeom prst="rect">
            <a:avLst/>
          </a:prstGeom>
          <a:solidFill>
            <a:srgbClr val="09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425696"/>
            <a:ext cx="523803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독립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126" y="4425696"/>
            <a:ext cx="560035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5EEC83"/>
                </a:solidFill>
                <a:latin typeface="Arial"/>
              </a:rPr>
              <a:t>다른 사람이 숫자를 다시 계산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5120640"/>
            <a:ext cx="11387023" cy="6350"/>
          </a:xfrm>
          <a:prstGeom prst="rect">
            <a:avLst/>
          </a:prstGeom>
          <a:solidFill>
            <a:srgbClr val="2C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120640"/>
            <a:ext cx="523803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변경 이력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6126" y="5120640"/>
            <a:ext cx="560035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B0BAC3"/>
                </a:solidFill>
                <a:latin typeface="Arial"/>
              </a:rPr>
              <a:t>언제 · 누가 · 왜 승인했나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5897880"/>
            <a:ext cx="11387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용어만 낯설 뿐, 절차는 </a:t>
            </a:r>
            <a:r>
              <a:rPr sz="1550" b="1">
                <a:solidFill>
                  <a:srgbClr val="FFFFFF"/>
                </a:solidFill>
                <a:latin typeface="Arial"/>
              </a:rPr>
              <a:t>이미 연구실이 하는 그대로</a:t>
            </a:r>
            <a:r>
              <a:rPr sz="1550" b="0">
                <a:solidFill>
                  <a:srgbClr val="B0BAC3"/>
                </a:solidFill>
                <a:latin typeface="Arial"/>
              </a:rPr>
              <a:t>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이제 직접 해보실 차례입니다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691640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68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6분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91640"/>
            <a:ext cx="100428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내 저장소 만들기 — 설정 다섯 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441448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868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15분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41448"/>
            <a:ext cx="100428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논문 수집 — AI가 검색어를 스스로 만듭니다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191256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91256"/>
            <a:ext cx="868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3분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91256"/>
            <a:ext cx="100428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내 질문을 씁니다 — 평소 궁금하던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3941064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09241A"/>
          </a:solidFill>
          <a:ln w="12700">
            <a:solidFill>
              <a:srgbClr val="5EE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41064"/>
            <a:ext cx="868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EEC83"/>
                </a:solidFill>
                <a:latin typeface="Arial"/>
              </a:rPr>
              <a:t>15분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41064"/>
            <a:ext cx="100428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기획서 읽고 승인 또는 반려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" y="4690872"/>
            <a:ext cx="11387023" cy="621792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90872"/>
            <a:ext cx="868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F94FF"/>
                </a:solidFill>
                <a:latin typeface="Arial"/>
              </a:rPr>
              <a:t>나머지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90872"/>
            <a:ext cx="100428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분석 · 검증 결과 확인 → 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5577840"/>
            <a:ext cx="11387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AI가 한 번 일하는 데 10~20분 걸립니다.</a:t>
            </a:r>
            <a:r>
              <a:rPr sz="1550" b="0">
                <a:solidFill>
                  <a:srgbClr val="B0BAC3"/>
                </a:solidFill>
                <a:latin typeface="Arial"/>
              </a:rPr>
              <a:t> 화면이 멈춘 것처럼 보여도 정상입니다.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오늘 하신 일, </a:t>
            </a:r>
            <a:r>
              <a:rPr sz="3200" b="1">
                <a:solidFill>
                  <a:srgbClr val="5EEC83"/>
                </a:solidFill>
                <a:latin typeface="Arial"/>
              </a:rPr>
              <a:t>어려우셨습니까?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1387023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0">
                <a:solidFill>
                  <a:srgbClr val="B0BAC3"/>
                </a:solidFill>
                <a:latin typeface="Arial"/>
              </a:rPr>
              <a:t>코드는 한 줄도 안 쓰셨습니다.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0">
                <a:solidFill>
                  <a:srgbClr val="B0BAC3"/>
                </a:solidFill>
                <a:latin typeface="Arial"/>
              </a:rPr>
              <a:t>하신 일은 </a:t>
            </a:r>
            <a:r>
              <a:rPr sz="2600" b="1">
                <a:solidFill>
                  <a:srgbClr val="FFFFFF"/>
                </a:solidFill>
                <a:latin typeface="Arial"/>
              </a:rPr>
              <a:t>읽고, 판단하고, 승인한 것</a:t>
            </a:r>
            <a:r>
              <a:rPr sz="2600" b="0">
                <a:solidFill>
                  <a:srgbClr val="B0BAC3"/>
                </a:solidFill>
                <a:latin typeface="Arial"/>
              </a:rPr>
              <a:t>뿐입니다.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114800"/>
            <a:ext cx="1138702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0">
                <a:solidFill>
                  <a:srgbClr val="B0BAC3"/>
                </a:solidFill>
                <a:latin typeface="Arial"/>
              </a:rPr>
              <a:t>그리고 그 판단이 전부 </a:t>
            </a:r>
            <a:r>
              <a:rPr sz="1650" b="1">
                <a:solidFill>
                  <a:srgbClr val="FFFFFF"/>
                </a:solidFill>
                <a:latin typeface="Arial"/>
              </a:rPr>
              <a:t>파일로 남았습니다.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0">
                <a:solidFill>
                  <a:srgbClr val="7D8790"/>
                </a:solidFill>
                <a:latin typeface="Arial"/>
              </a:rPr>
              <a:t>누가 언제 무엇을 승인했는지, 왜 반려했는지까지.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4008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그리고 </a:t>
            </a:r>
            <a:r>
              <a:rPr sz="3200" b="1">
                <a:solidFill>
                  <a:srgbClr val="5EEC83"/>
                </a:solidFill>
                <a:latin typeface="Arial"/>
              </a:rPr>
              <a:t>매일 아침</a:t>
            </a:r>
            <a:r>
              <a:rPr sz="3200" b="1">
                <a:solidFill>
                  <a:srgbClr val="FFFFFF"/>
                </a:solidFill>
                <a:latin typeface="Arial"/>
              </a:rPr>
              <a:t> 혼자 일합니다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20240"/>
            <a:ext cx="11387023" cy="3566160"/>
          </a:xfrm>
          <a:prstGeom prst="roundRect">
            <a:avLst>
              <a:gd name="adj" fmla="val 8000"/>
            </a:avLst>
          </a:prstGeom>
          <a:solidFill>
            <a:srgbClr val="080B09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2121408"/>
            <a:ext cx="10801807" cy="3163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7D8790"/>
                </a:solidFill>
                <a:latin typeface="Consolas"/>
              </a:rPr>
              <a:t>매일 00:00 — 아무도 시키지 않아도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EC83"/>
                </a:solidFill>
                <a:latin typeface="Consolas"/>
              </a:rPr>
              <a:t>→ </a:t>
            </a:r>
            <a:r>
              <a:rPr sz="1400" b="0">
                <a:solidFill>
                  <a:srgbClr val="FFFFFF"/>
                </a:solidFill>
                <a:latin typeface="Consolas"/>
              </a:rPr>
              <a:t>우리 데이터를 먼저 조회하고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EC83"/>
                </a:solidFill>
                <a:latin typeface="Consolas"/>
              </a:rPr>
              <a:t>→ </a:t>
            </a:r>
            <a:r>
              <a:rPr sz="1400" b="0">
                <a:solidFill>
                  <a:srgbClr val="FFFFFF"/>
                </a:solidFill>
                <a:latin typeface="Consolas"/>
              </a:rPr>
              <a:t>그것을 근거로 </a:t>
            </a:r>
            <a:r>
              <a:rPr sz="1400" b="1">
                <a:solidFill>
                  <a:srgbClr val="FFFFFF"/>
                </a:solidFill>
                <a:latin typeface="Consolas"/>
              </a:rPr>
              <a:t>검색어를 스스로 만들어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EC83"/>
                </a:solidFill>
                <a:latin typeface="Consolas"/>
              </a:rPr>
              <a:t>→ </a:t>
            </a:r>
            <a:r>
              <a:rPr sz="1400" b="0">
                <a:solidFill>
                  <a:srgbClr val="FFFFFF"/>
                </a:solidFill>
                <a:latin typeface="Consolas"/>
              </a:rPr>
              <a:t>어제 나온 논문 중 </a:t>
            </a:r>
            <a:r>
              <a:rPr sz="1400" b="1">
                <a:solidFill>
                  <a:srgbClr val="5EEC83"/>
                </a:solidFill>
                <a:latin typeface="Consolas"/>
              </a:rPr>
              <a:t>우리와 관련된 것</a:t>
            </a:r>
            <a:r>
              <a:rPr sz="1400" b="0">
                <a:solidFill>
                  <a:srgbClr val="FFFFFF"/>
                </a:solidFill>
                <a:latin typeface="Consolas"/>
              </a:rPr>
              <a:t>만 골라 둡니다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7D8790"/>
                </a:solidFill>
                <a:latin typeface="Consolas"/>
              </a:rPr>
              <a:t>쌓일수록 좋아집니다. 이미 검토한 논문은 다시 올라오지 않고,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7D8790"/>
                </a:solidFill>
                <a:latin typeface="Consolas"/>
              </a:rPr>
              <a:t>지난 판단들이 다음 판단의 기준이 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685800"/>
            <a:ext cx="1138702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논문 리뷰만의 </a:t>
            </a:r>
            <a:r>
              <a:rPr sz="3200" b="1">
                <a:solidFill>
                  <a:srgbClr val="5EEC83"/>
                </a:solidFill>
                <a:latin typeface="Arial"/>
              </a:rPr>
              <a:t>이야기가 아닙니다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진료 프로토콜 · 오더셋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가이드라인이 개정되면 영향받는 오더셋을 자동으로 찾아냅니다.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9450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45482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482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QI · 감염관리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482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매달 같은 정의로 산출되는지, 정의를 바꾸면 과거 12개월이 어떻게 달라지는지.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564" y="1965960"/>
            <a:ext cx="3612794" cy="2743200"/>
          </a:xfrm>
          <a:prstGeom prst="roundRect">
            <a:avLst>
              <a:gd name="adj" fmla="val 8000"/>
            </a:avLst>
          </a:prstGeom>
          <a:solidFill>
            <a:srgbClr val="1B211C"/>
          </a:solidFill>
          <a:ln w="12700">
            <a:solidFill>
              <a:srgbClr val="2C3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2596" y="2221992"/>
            <a:ext cx="365760" cy="365760"/>
          </a:xfrm>
          <a:prstGeom prst="ellipse">
            <a:avLst/>
          </a:prstGeom>
          <a:solidFill>
            <a:srgbClr val="5EE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141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596" y="2734056"/>
            <a:ext cx="310073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원내 AI 프롬프트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483864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B0BAC3"/>
                </a:solidFill>
                <a:latin typeface="Arial"/>
              </a:rPr>
              <a:t>퇴원요약 프롬프트를 고쳤을 때 100건 중 3건이 조용히 나빠진 걸 잡아냅니다.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5029200"/>
            <a:ext cx="113870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반복되고, 틀리면 대가가 있고, 여러 사람이 같은 답을 써야 하는 일</a:t>
            </a:r>
            <a:r>
              <a:rPr sz="1550" b="0">
                <a:solidFill>
                  <a:srgbClr val="B0BAC3"/>
                </a:solidFill>
                <a:latin typeface="Arial"/>
              </a:rPr>
              <a:t>이라면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0">
                <a:solidFill>
                  <a:srgbClr val="B0BAC3"/>
                </a:solidFill>
                <a:latin typeface="Arial"/>
              </a:rPr>
              <a:t>오늘 보신 틀이 그대로 들어맞습니다. </a:t>
            </a:r>
            <a:r>
              <a:rPr sz="1550" b="0">
                <a:solidFill>
                  <a:srgbClr val="7D8790"/>
                </a:solidFill>
                <a:latin typeface="Arial"/>
              </a:rPr>
              <a:t>오늘 저장소는 템플릿입니다.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pilot-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ustry-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148840"/>
            <a:ext cx="1138702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5EEC83"/>
                </a:solidFill>
                <a:latin typeface="Arial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971800"/>
            <a:ext cx="11387023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답은 AI가 냅니다.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4000" b="1">
                <a:solidFill>
                  <a:srgbClr val="5EEC83"/>
                </a:solidFill>
                <a:latin typeface="Arial"/>
              </a:rPr>
              <a:t>맞는지는 우리가 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Hub Default Theme_dark version">
  <a:themeElements>
    <a:clrScheme name="2026 GitHub Core Brand">
      <a:dk1>
        <a:srgbClr val="000000"/>
      </a:dk1>
      <a:lt1>
        <a:srgbClr val="FFFFFF"/>
      </a:lt1>
      <a:dk2>
        <a:srgbClr val="B0BAC3"/>
      </a:dk2>
      <a:lt2>
        <a:srgbClr val="20262C"/>
      </a:lt2>
      <a:accent1>
        <a:srgbClr val="BEFFD0"/>
      </a:accent1>
      <a:accent2>
        <a:srgbClr val="8BF1A6"/>
      </a:accent2>
      <a:accent3>
        <a:srgbClr val="5EEC83"/>
      </a:accent3>
      <a:accent4>
        <a:srgbClr val="0EBE3D"/>
      </a:accent4>
      <a:accent5>
        <a:srgbClr val="0D6836"/>
      </a:accent5>
      <a:accent6>
        <a:srgbClr val="09241A"/>
      </a:accent6>
      <a:hlink>
        <a:srgbClr val="2F94FF"/>
      </a:hlink>
      <a:folHlink>
        <a:srgbClr val="B87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9A3F130A-65AD-2E46-8570-7E422507EE38}" vid="{FACF46E5-347D-A94F-923D-FA6547228A1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BED04A73EC04F8606832822A6508B" ma:contentTypeVersion="11" ma:contentTypeDescription="Create a new document." ma:contentTypeScope="" ma:versionID="3ede87957b835f638e51dd9dd4d1449d">
  <xsd:schema xmlns:xsd="http://www.w3.org/2001/XMLSchema" xmlns:xs="http://www.w3.org/2001/XMLSchema" xmlns:p="http://schemas.microsoft.com/office/2006/metadata/properties" xmlns:ns1="http://schemas.microsoft.com/sharepoint/v3" xmlns:ns2="39208136-c58e-4e30-a1ea-e9b896dfd74b" targetNamespace="http://schemas.microsoft.com/office/2006/metadata/properties" ma:root="true" ma:fieldsID="d7956be1e318c982bedba1a35c9f1493" ns1:_="" ns2:_="">
    <xsd:import namespace="http://schemas.microsoft.com/sharepoint/v3"/>
    <xsd:import namespace="39208136-c58e-4e30-a1ea-e9b896dfd74b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Topic" minOccurs="0"/>
                <xsd:element ref="ns2:ProductName" minOccurs="0"/>
                <xsd:element ref="ns2:Audience" minOccurs="0"/>
                <xsd:element ref="ns2:LastUpdatedDate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08136-c58e-4e30-a1ea-e9b896dfd74b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opic" ma:index="14" nillable="true" ma:displayName="Topic" ma:format="Dropdown" ma:internalName="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Product"/>
                    <xsd:enumeration value="Internal Announcement"/>
                    <xsd:enumeration value="Company Data"/>
                    <xsd:enumeration value="Brand Guidelines"/>
                  </xsd:restriction>
                </xsd:simpleType>
              </xsd:element>
            </xsd:sequence>
          </xsd:extension>
        </xsd:complexContent>
      </xsd:complexType>
    </xsd:element>
    <xsd:element name="ProductName" ma:index="15" nillable="true" ma:displayName="Product Name" ma:default="GitHub Copilot, GitHub Actions, GitHub Advanced Security, GitHub Enterprise Cloud, GHC, GHA, GHAS, GHEC" ma:format="Dropdown" ma:internalName="ProductName">
      <xsd:simpleType>
        <xsd:restriction base="dms:Text">
          <xsd:maxLength value="255"/>
        </xsd:restriction>
      </xsd:simpleType>
    </xsd:element>
    <xsd:element name="Audience" ma:index="16" nillable="true" ma:displayName="Audience" ma:format="Dropdown" ma:internalName="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xternal"/>
                    <xsd:enumeration value="Internal"/>
                    <xsd:enumeration value="Customer"/>
                  </xsd:restriction>
                </xsd:simpleType>
              </xsd:element>
            </xsd:sequence>
          </xsd:extension>
        </xsd:complexContent>
      </xsd:complexType>
    </xsd:element>
    <xsd:element name="LastUpdatedDate" ma:index="17" nillable="true" ma:displayName="Last Updated Date" ma:format="DateOnly" ma:internalName="LastUpdatedDate">
      <xsd:simpleType>
        <xsd:restriction base="dms:DateTime"/>
      </xsd:simpleType>
    </xsd:element>
    <xsd:element name="Status" ma:index="18" nillable="true" ma:displayName="Status" ma:format="Dropdown" ma:internalName="Status">
      <xsd:simpleType>
        <xsd:restriction base="dms:Choice">
          <xsd:enumeration value="Draft"/>
          <xsd:enumeration value="Approved"/>
          <xsd:enumeration value="Outdate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ductName xmlns="39208136-c58e-4e30-a1ea-e9b896dfd74b">GitHub Copilot, GitHub Actions, GitHub Advanced Security, GitHub Enterprise Cloud, GHC, GHA, GHAS, GHEC</ProductName>
    <_ip_UnifiedCompliancePolicyUIAction xmlns="http://schemas.microsoft.com/sharepoint/v3" xsi:nil="true"/>
    <Audience xmlns="39208136-c58e-4e30-a1ea-e9b896dfd74b" xsi:nil="true"/>
    <_ip_UnifiedCompliancePolicyProperties xmlns="http://schemas.microsoft.com/sharepoint/v3" xsi:nil="true"/>
    <LastUpdatedDate xmlns="39208136-c58e-4e30-a1ea-e9b896dfd74b" xsi:nil="true"/>
    <Topic xmlns="39208136-c58e-4e30-a1ea-e9b896dfd74b" xsi:nil="true"/>
    <Status xmlns="39208136-c58e-4e30-a1ea-e9b896dfd74b" xsi:nil="true"/>
  </documentManagement>
</p:properties>
</file>

<file path=customXml/itemProps1.xml><?xml version="1.0" encoding="utf-8"?>
<ds:datastoreItem xmlns:ds="http://schemas.openxmlformats.org/officeDocument/2006/customXml" ds:itemID="{09C8CDFC-9608-465B-B649-6839A1F6A2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208136-c58e-4e30-a1ea-e9b896dfd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FA4674-76A2-4649-97EE-AD4E431A43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526CE3-10E8-4546-995A-67819D91885D}">
  <ds:schemaRefs>
    <ds:schemaRef ds:uri="http://purl.org/dc/dcmitype/"/>
    <ds:schemaRef ds:uri="http://purl.org/dc/elements/1.1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39208136-c58e-4e30-a1ea-e9b896dfd74b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1020</Words>
  <Application>Microsoft Macintosh PowerPoint</Application>
  <PresentationFormat>Custom</PresentationFormat>
  <Paragraphs>204</Paragraphs>
  <Slides>179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179</vt:i4>
      </vt:variant>
    </vt:vector>
  </HeadingPairs>
  <TitlesOfParts>
    <vt:vector size="195" baseType="lpstr">
      <vt:lpstr>Aptos</vt:lpstr>
      <vt:lpstr>Arial</vt:lpstr>
      <vt:lpstr>Mona Sans</vt:lpstr>
      <vt:lpstr>Mona Sans Display</vt:lpstr>
      <vt:lpstr>Mona Sans Display Medium</vt:lpstr>
      <vt:lpstr>Mona Sans Medium</vt:lpstr>
      <vt:lpstr>Mona Sans Mono</vt:lpstr>
      <vt:lpstr>Mona Sans SemiBold</vt:lpstr>
      <vt:lpstr>Mona-Sans</vt:lpstr>
      <vt:lpstr>Mona-Sans Regular</vt:lpstr>
      <vt:lpstr>GitHub Default Theme_dark version</vt:lpstr>
      <vt:lpstr>Copilot/AI Theme_dark version</vt:lpstr>
      <vt:lpstr>Security Theme_dark version</vt:lpstr>
      <vt:lpstr>GitHub Default Theme_light version</vt:lpstr>
      <vt:lpstr>Copilot/AI Theme_light version</vt:lpstr>
      <vt:lpstr>Security Theme_light version</vt:lpstr>
      <vt:lpstr>Welcome  to your GitHub presentation 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GitHub Presentation Template</dc:title>
  <dc:subject/>
  <dc:creator>Franky Arvelo and Ahn-Thu Pham</dc:creator>
  <cp:keywords/>
  <dc:description/>
  <cp:lastModifiedBy>Craig Steinberger</cp:lastModifiedBy>
  <cp:revision>1</cp:revision>
  <dcterms:created xsi:type="dcterms:W3CDTF">2026-01-20T22:05:15Z</dcterms:created>
  <dcterms:modified xsi:type="dcterms:W3CDTF">2026-01-20T22:49:05Z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0x010100575BED04A73EC04F8606832822A6508B</vt:lpwstr>
  </property>
</Properties>
</file>